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4" r:id="rId2"/>
    <p:sldId id="257" r:id="rId3"/>
    <p:sldId id="305" r:id="rId4"/>
    <p:sldId id="308" r:id="rId5"/>
    <p:sldId id="309" r:id="rId6"/>
    <p:sldId id="307" r:id="rId7"/>
    <p:sldId id="310" r:id="rId8"/>
    <p:sldId id="311" r:id="rId9"/>
    <p:sldId id="312" r:id="rId10"/>
    <p:sldId id="314" r:id="rId11"/>
    <p:sldId id="316" r:id="rId12"/>
    <p:sldId id="317" r:id="rId13"/>
    <p:sldId id="313" r:id="rId14"/>
    <p:sldId id="318" r:id="rId15"/>
    <p:sldId id="319" r:id="rId16"/>
    <p:sldId id="30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BA7B"/>
    <a:srgbClr val="E4063A"/>
    <a:srgbClr val="F5C418"/>
    <a:srgbClr val="098DEE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564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0"/>
          </p:nvPr>
        </p:nvSpPr>
        <p:spPr>
          <a:xfrm>
            <a:off x="424768" y="403399"/>
            <a:ext cx="6330204" cy="6051202"/>
          </a:xfrm>
          <a:prstGeom prst="sun">
            <a:avLst>
              <a:gd name="adj" fmla="val 18130"/>
            </a:avLst>
          </a:prstGeom>
          <a:pattFill prst="pct5">
            <a:fgClr>
              <a:srgbClr val="22BA7B"/>
            </a:fgClr>
            <a:bgClr>
              <a:schemeClr val="bg1"/>
            </a:bgClr>
          </a:pattFill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/>
          <p:cNvSpPr>
            <a:spLocks noGrp="1"/>
          </p:cNvSpPr>
          <p:nvPr>
            <p:ph type="pic" sz="quarter" idx="10"/>
          </p:nvPr>
        </p:nvSpPr>
        <p:spPr>
          <a:xfrm rot="387647">
            <a:off x="6468838" y="908020"/>
            <a:ext cx="4452096" cy="2937050"/>
          </a:xfrm>
          <a:prstGeom prst="rect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solidFill>
              <a:schemeClr val="bg1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6" name="Picture Placeholder 14"/>
          <p:cNvSpPr>
            <a:spLocks noGrp="1"/>
          </p:cNvSpPr>
          <p:nvPr>
            <p:ph type="pic" sz="quarter" idx="11"/>
          </p:nvPr>
        </p:nvSpPr>
        <p:spPr>
          <a:xfrm rot="21142154">
            <a:off x="6968675" y="2922233"/>
            <a:ext cx="4452096" cy="2937050"/>
          </a:xfrm>
          <a:prstGeom prst="rect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solidFill>
              <a:schemeClr val="bg1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8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824819" y="4446692"/>
            <a:ext cx="1222216" cy="1168348"/>
          </a:xfrm>
          <a:prstGeom prst="ellipse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66675">
            <a:solidFill>
              <a:srgbClr val="F5C418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5497286" y="1001589"/>
            <a:ext cx="2540000" cy="2215824"/>
          </a:xfrm>
          <a:prstGeom prst="roundRect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solidFill>
              <a:srgbClr val="22BA7B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9006114" y="3949360"/>
            <a:ext cx="2540000" cy="2215824"/>
          </a:xfrm>
          <a:prstGeom prst="roundRect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solidFill>
              <a:srgbClr val="F5C418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7248161" y="327897"/>
            <a:ext cx="4116525" cy="3935093"/>
          </a:xfrm>
          <a:prstGeom prst="ellipse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66675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653141" y="980623"/>
            <a:ext cx="4683629" cy="3604514"/>
          </a:xfrm>
          <a:prstGeom prst="roundRect">
            <a:avLst>
              <a:gd name="adj" fmla="val 11432"/>
            </a:avLst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solidFill>
              <a:srgbClr val="F5C418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13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6745491" y="2496457"/>
            <a:ext cx="4461428" cy="2479099"/>
          </a:xfrm>
          <a:prstGeom prst="cloud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785052" y="2133311"/>
            <a:ext cx="2872548" cy="2215824"/>
          </a:xfrm>
          <a:prstGeom prst="roundRect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solidFill>
              <a:srgbClr val="22BA7B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4659726" y="2138141"/>
            <a:ext cx="2872548" cy="2215824"/>
          </a:xfrm>
          <a:prstGeom prst="roundRect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solidFill>
              <a:srgbClr val="E4063A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8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8534400" y="2133311"/>
            <a:ext cx="2872548" cy="2215824"/>
          </a:xfrm>
          <a:prstGeom prst="roundRect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solidFill>
              <a:srgbClr val="22BA7B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/>
          <p:cNvSpPr>
            <a:spLocks noGrp="1"/>
          </p:cNvSpPr>
          <p:nvPr>
            <p:ph type="pic" sz="quarter" idx="11"/>
          </p:nvPr>
        </p:nvSpPr>
        <p:spPr>
          <a:xfrm>
            <a:off x="5115530" y="1038654"/>
            <a:ext cx="2701063" cy="2651698"/>
          </a:xfrm>
          <a:prstGeom prst="ellipse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10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8686618" y="1038654"/>
            <a:ext cx="2701063" cy="2651698"/>
          </a:xfrm>
          <a:prstGeom prst="ellipse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5625399" y="673863"/>
            <a:ext cx="3492410" cy="3338485"/>
          </a:xfrm>
          <a:prstGeom prst="ellipse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66675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8259742" y="3308206"/>
            <a:ext cx="3236265" cy="3093629"/>
          </a:xfrm>
          <a:prstGeom prst="ellipse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66675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8" name="Picture Placeholder 14"/>
          <p:cNvSpPr>
            <a:spLocks noGrp="1"/>
          </p:cNvSpPr>
          <p:nvPr>
            <p:ph type="pic" sz="quarter" idx="14"/>
          </p:nvPr>
        </p:nvSpPr>
        <p:spPr>
          <a:xfrm>
            <a:off x="9482891" y="865729"/>
            <a:ext cx="2232611" cy="2134210"/>
          </a:xfrm>
          <a:prstGeom prst="ellipse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66675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14"/>
          <p:cNvSpPr>
            <a:spLocks noGrp="1"/>
          </p:cNvSpPr>
          <p:nvPr>
            <p:ph type="pic" sz="quarter" idx="15"/>
          </p:nvPr>
        </p:nvSpPr>
        <p:spPr>
          <a:xfrm>
            <a:off x="5909166" y="4277702"/>
            <a:ext cx="2045037" cy="1954903"/>
          </a:xfrm>
          <a:prstGeom prst="ellipse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66675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6096000" y="717975"/>
            <a:ext cx="5552469" cy="5307749"/>
          </a:xfrm>
          <a:prstGeom prst="ellipse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52400">
            <a:solidFill>
              <a:srgbClr val="F5C418"/>
            </a:solidFill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-1" y="19050"/>
            <a:ext cx="6743701" cy="6838949"/>
          </a:xfrm>
          <a:prstGeom prst="flowChartDelay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790210" y="576924"/>
            <a:ext cx="5724080" cy="5704152"/>
          </a:xfrm>
          <a:custGeom>
            <a:avLst/>
            <a:gdLst>
              <a:gd name="connsiteX0" fmla="*/ 2262370 w 5724080"/>
              <a:gd name="connsiteY0" fmla="*/ 0 h 5704152"/>
              <a:gd name="connsiteX1" fmla="*/ 4524740 w 5724080"/>
              <a:gd name="connsiteY1" fmla="*/ 2162658 h 5704152"/>
              <a:gd name="connsiteX2" fmla="*/ 4518757 w 5724080"/>
              <a:gd name="connsiteY2" fmla="*/ 2275933 h 5704152"/>
              <a:gd name="connsiteX3" fmla="*/ 4592724 w 5724080"/>
              <a:gd name="connsiteY3" fmla="*/ 2301812 h 5704152"/>
              <a:gd name="connsiteX4" fmla="*/ 5724080 w 5724080"/>
              <a:gd name="connsiteY4" fmla="*/ 3933405 h 5704152"/>
              <a:gd name="connsiteX5" fmla="*/ 3871690 w 5724080"/>
              <a:gd name="connsiteY5" fmla="*/ 5704152 h 5704152"/>
              <a:gd name="connsiteX6" fmla="*/ 2102580 w 5724080"/>
              <a:gd name="connsiteY6" fmla="*/ 4459971 h 5704152"/>
              <a:gd name="connsiteX7" fmla="*/ 2063782 w 5724080"/>
              <a:gd name="connsiteY7" fmla="*/ 4315730 h 5704152"/>
              <a:gd name="connsiteX8" fmla="*/ 2031056 w 5724080"/>
              <a:gd name="connsiteY8" fmla="*/ 4314151 h 5704152"/>
              <a:gd name="connsiteX9" fmla="*/ 0 w 5724080"/>
              <a:gd name="connsiteY9" fmla="*/ 2162658 h 5704152"/>
              <a:gd name="connsiteX10" fmla="*/ 2262370 w 5724080"/>
              <a:gd name="connsiteY10" fmla="*/ 0 h 5704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724080" h="5704152">
                <a:moveTo>
                  <a:pt x="2262370" y="0"/>
                </a:moveTo>
                <a:cubicBezTo>
                  <a:pt x="3511842" y="0"/>
                  <a:pt x="4524740" y="968255"/>
                  <a:pt x="4524740" y="2162658"/>
                </a:cubicBezTo>
                <a:lnTo>
                  <a:pt x="4518757" y="2275933"/>
                </a:lnTo>
                <a:lnTo>
                  <a:pt x="4592724" y="2301812"/>
                </a:lnTo>
                <a:cubicBezTo>
                  <a:pt x="5257575" y="2570626"/>
                  <a:pt x="5724080" y="3199937"/>
                  <a:pt x="5724080" y="3933405"/>
                </a:cubicBezTo>
                <a:cubicBezTo>
                  <a:pt x="5724080" y="4911362"/>
                  <a:pt x="4894737" y="5704152"/>
                  <a:pt x="3871690" y="5704152"/>
                </a:cubicBezTo>
                <a:cubicBezTo>
                  <a:pt x="3040464" y="5704152"/>
                  <a:pt x="2337114" y="5180787"/>
                  <a:pt x="2102580" y="4459971"/>
                </a:cubicBezTo>
                <a:lnTo>
                  <a:pt x="2063782" y="4315730"/>
                </a:lnTo>
                <a:lnTo>
                  <a:pt x="2031056" y="4314151"/>
                </a:lnTo>
                <a:cubicBezTo>
                  <a:pt x="890243" y="4203401"/>
                  <a:pt x="0" y="3282411"/>
                  <a:pt x="0" y="2162658"/>
                </a:cubicBezTo>
                <a:cubicBezTo>
                  <a:pt x="0" y="968255"/>
                  <a:pt x="1012898" y="0"/>
                  <a:pt x="2262370" y="0"/>
                </a:cubicBezTo>
                <a:close/>
              </a:path>
            </a:pathLst>
          </a:custGeom>
          <a:pattFill prst="pct5">
            <a:fgClr>
              <a:srgbClr val="22BA7B"/>
            </a:fgClr>
            <a:bgClr>
              <a:schemeClr val="bg1"/>
            </a:bgClr>
          </a:pattFill>
          <a:ln w="66675">
            <a:noFill/>
          </a:ln>
        </p:spPr>
        <p:txBody>
          <a:bodyPr wrap="square">
            <a:noAutofit/>
          </a:bodyPr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2635620" y="1092948"/>
            <a:ext cx="2679330" cy="4707777"/>
          </a:xfrm>
          <a:prstGeom prst="rect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66675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5091009" y="1659745"/>
            <a:ext cx="6328015" cy="4110009"/>
          </a:xfrm>
          <a:prstGeom prst="cloud">
            <a:avLst/>
          </a:prstGeom>
          <a:pattFill prst="pct5">
            <a:fgClr>
              <a:srgbClr val="22BA7B"/>
            </a:fgClr>
            <a:bgClr>
              <a:schemeClr val="bg1"/>
            </a:bgClr>
          </a:pattFill>
          <a:ln w="107950">
            <a:noFill/>
          </a:ln>
        </p:spPr>
        <p:txBody>
          <a:bodyPr/>
          <a:lstStyle>
            <a:lvl1pPr>
              <a:defRPr sz="1100">
                <a:latin typeface="Nunito" pitchFamily="2" charset="0"/>
              </a:defRPr>
            </a:lvl1pPr>
          </a:lstStyle>
          <a:p>
            <a:endParaRPr lang="en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 rot="1447343">
            <a:off x="1264729" y="4835590"/>
            <a:ext cx="3563956" cy="3496768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8" name="Oval 17"/>
          <p:cNvSpPr/>
          <p:nvPr/>
        </p:nvSpPr>
        <p:spPr>
          <a:xfrm rot="1447343">
            <a:off x="11118835" y="5532951"/>
            <a:ext cx="2543602" cy="249565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2" name="Picture Placeholder 1" descr="12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173355" y="403225"/>
            <a:ext cx="6051550" cy="6051550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19476" y="250054"/>
            <a:ext cx="3885617" cy="2268597"/>
          </a:xfrm>
          <a:prstGeom prst="rect">
            <a:avLst/>
          </a:prstGeom>
        </p:spPr>
      </p:pic>
      <p:sp>
        <p:nvSpPr>
          <p:cNvPr id="21" name="TextBox 6"/>
          <p:cNvSpPr txBox="1"/>
          <p:nvPr/>
        </p:nvSpPr>
        <p:spPr>
          <a:xfrm>
            <a:off x="6165415" y="2822101"/>
            <a:ext cx="57937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4800" b="1" dirty="0" smtClean="0">
                <a:solidFill>
                  <a:sysClr val="windowText" lastClr="000000"/>
                </a:solidFill>
                <a:latin typeface="Rubik" pitchFamily="2" charset="-79"/>
                <a:cs typeface="Rubik" pitchFamily="2" charset="-79"/>
              </a:rPr>
              <a:t>Software Engineering Final Project</a:t>
            </a:r>
            <a:endParaRPr lang="en-US" altLang="en-US" sz="4800" b="1" dirty="0">
              <a:solidFill>
                <a:sysClr val="windowText" lastClr="000000"/>
              </a:solidFill>
              <a:latin typeface="Rubik" pitchFamily="2" charset="-79"/>
              <a:cs typeface="Rubik" pitchFamily="2" charset="-79"/>
            </a:endParaRPr>
          </a:p>
        </p:txBody>
      </p:sp>
      <p:sp>
        <p:nvSpPr>
          <p:cNvPr id="19" name="Freeform: Shape 18"/>
          <p:cNvSpPr/>
          <p:nvPr/>
        </p:nvSpPr>
        <p:spPr>
          <a:xfrm rot="2307362">
            <a:off x="83756" y="5240119"/>
            <a:ext cx="453689" cy="213061"/>
          </a:xfrm>
          <a:custGeom>
            <a:avLst/>
            <a:gdLst>
              <a:gd name="connsiteX0" fmla="*/ 0 w 499534"/>
              <a:gd name="connsiteY0" fmla="*/ 0 h 249768"/>
              <a:gd name="connsiteX1" fmla="*/ 499534 w 499534"/>
              <a:gd name="connsiteY1" fmla="*/ 0 h 249768"/>
              <a:gd name="connsiteX2" fmla="*/ 499534 w 499534"/>
              <a:gd name="connsiteY2" fmla="*/ 1 h 249768"/>
              <a:gd name="connsiteX3" fmla="*/ 249767 w 499534"/>
              <a:gd name="connsiteY3" fmla="*/ 249768 h 249768"/>
              <a:gd name="connsiteX4" fmla="*/ 0 w 499534"/>
              <a:gd name="connsiteY4" fmla="*/ 1 h 24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9534" h="249768">
                <a:moveTo>
                  <a:pt x="0" y="0"/>
                </a:moveTo>
                <a:lnTo>
                  <a:pt x="499534" y="0"/>
                </a:lnTo>
                <a:lnTo>
                  <a:pt x="499534" y="1"/>
                </a:lnTo>
                <a:cubicBezTo>
                  <a:pt x="499534" y="137944"/>
                  <a:pt x="387710" y="249768"/>
                  <a:pt x="249767" y="249768"/>
                </a:cubicBezTo>
                <a:cubicBezTo>
                  <a:pt x="111824" y="249768"/>
                  <a:pt x="0" y="137944"/>
                  <a:pt x="0" y="1"/>
                </a:cubicBezTo>
                <a:close/>
              </a:path>
            </a:pathLst>
          </a:custGeom>
          <a:noFill/>
          <a:ln w="82550">
            <a:solidFill>
              <a:srgbClr val="E40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7" name="Isosceles Triangle 16"/>
          <p:cNvSpPr/>
          <p:nvPr/>
        </p:nvSpPr>
        <p:spPr>
          <a:xfrm rot="20053535">
            <a:off x="5807498" y="5671942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5922891" y="217841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 rot="1447343">
            <a:off x="7181291" y="-1066900"/>
            <a:ext cx="9164571" cy="899179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6468" y="2810142"/>
            <a:ext cx="568953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4400" b="1" dirty="0" err="1"/>
              <a:t>RentSure</a:t>
            </a:r>
            <a:r>
              <a:rPr lang="en-US" altLang="en-US" sz="4400" b="1" dirty="0"/>
              <a:t>: </a:t>
            </a:r>
            <a:r>
              <a:rPr lang="en-US" altLang="en-US" sz="4400" b="1" dirty="0" smtClean="0"/>
              <a:t>A D</a:t>
            </a:r>
            <a:r>
              <a:rPr lang="en-US" sz="4400" b="1" dirty="0" smtClean="0"/>
              <a:t>igital </a:t>
            </a:r>
            <a:r>
              <a:rPr lang="en-US" sz="4400" b="1" dirty="0"/>
              <a:t>Tenant–Property Matching </a:t>
            </a:r>
            <a:r>
              <a:rPr lang="en-US" sz="4400" b="1" dirty="0" smtClean="0"/>
              <a:t>Platform</a:t>
            </a:r>
          </a:p>
          <a:p>
            <a:pPr>
              <a:lnSpc>
                <a:spcPct val="150000"/>
              </a:lnSpc>
            </a:pPr>
            <a:r>
              <a:rPr lang="en-US" sz="3600" dirty="0"/>
              <a:t>Presented by: BSEM1203</a:t>
            </a:r>
            <a:endParaRPr lang="en-US" altLang="en-US" sz="3600" dirty="0">
              <a:latin typeface="Rubik" pitchFamily="2" charset="-79"/>
              <a:cs typeface="Rubik" pitchFamily="2" charset="-79"/>
            </a:endParaRPr>
          </a:p>
          <a:p>
            <a:endParaRPr lang="en-US" altLang="en-US" sz="44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7623053" y="4389378"/>
            <a:ext cx="499533" cy="499533"/>
          </a:xfrm>
          <a:prstGeom prst="ellipse">
            <a:avLst/>
          </a:prstGeom>
          <a:noFill/>
          <a:ln w="82550">
            <a:solidFill>
              <a:srgbClr val="22BA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/>
          <p:cNvSpPr/>
          <p:nvPr/>
        </p:nvSpPr>
        <p:spPr>
          <a:xfrm rot="20053535">
            <a:off x="6826973" y="3271964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/>
          <p:cNvSpPr/>
          <p:nvPr/>
        </p:nvSpPr>
        <p:spPr>
          <a:xfrm rot="1447343">
            <a:off x="-821015" y="5562361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  <a:latin typeface="Nunito" pitchFamily="2" charset="0"/>
            </a:endParaRPr>
          </a:p>
        </p:txBody>
      </p:sp>
      <p:pic>
        <p:nvPicPr>
          <p:cNvPr id="4" name="Picture Placeholder 3" descr="123a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6096000" y="306983"/>
            <a:ext cx="4451985" cy="2503170"/>
          </a:xfrm>
          <a:prstGeom prst="rect">
            <a:avLst/>
          </a:prstGeom>
        </p:spPr>
      </p:pic>
      <p:pic>
        <p:nvPicPr>
          <p:cNvPr id="14" name="Picture Placeholder 13" descr="123b"/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tretch>
            <a:fillRect/>
          </a:stretch>
        </p:blipFill>
        <p:spPr>
          <a:xfrm>
            <a:off x="8488272" y="3170708"/>
            <a:ext cx="2936875" cy="293687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094" y="137113"/>
            <a:ext cx="3675729" cy="22562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965917" y="181776"/>
            <a:ext cx="39853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Introduction: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1026" name="Picture 2" descr="https://images.unsplash.com/photo-1560518883-ce09059eeff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7832" y="1429012"/>
            <a:ext cx="4025458" cy="3905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5DBB8EC-D6C2-C1A3-8008-6D58BCFC8DA7}"/>
              </a:ext>
            </a:extLst>
          </p:cNvPr>
          <p:cNvSpPr txBox="1"/>
          <p:nvPr/>
        </p:nvSpPr>
        <p:spPr>
          <a:xfrm>
            <a:off x="430449" y="1012773"/>
            <a:ext cx="6692246" cy="4556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Background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Finding rental accommodation can be difficult.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Current methods rely on social media and referrals.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Landlords struggle to find suitable tenants.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RentSure</a:t>
            </a:r>
            <a:r>
              <a:rPr lang="en-US" sz="3200" dirty="0"/>
              <a:t> provides a digital matching solution.</a:t>
            </a:r>
          </a:p>
          <a:p>
            <a:pPr algn="l">
              <a:lnSpc>
                <a:spcPct val="200000"/>
              </a:lnSpc>
            </a:pPr>
            <a:endParaRPr lang="en-US" altLang="en-US" sz="2400" dirty="0">
              <a:latin typeface="Tahoma" panose="020B0604030504040204" charset="0"/>
              <a:cs typeface="Tahoma" panose="020B060403050404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892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965917" y="181776"/>
            <a:ext cx="39853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Introduction: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5DBB8EC-D6C2-C1A3-8008-6D58BCFC8DA7}"/>
              </a:ext>
            </a:extLst>
          </p:cNvPr>
          <p:cNvSpPr txBox="1"/>
          <p:nvPr/>
        </p:nvSpPr>
        <p:spPr>
          <a:xfrm>
            <a:off x="270178" y="1109026"/>
            <a:ext cx="7038755" cy="4556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dirty="0"/>
              <a:t>Problem Statement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 smtClean="0"/>
              <a:t>Slow </a:t>
            </a:r>
            <a:r>
              <a:rPr lang="en-US" sz="3000" dirty="0"/>
              <a:t>communication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Manual matching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Lack of centralized information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Time-consuming searches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000" dirty="0"/>
              <a:t>Poor transparency</a:t>
            </a:r>
          </a:p>
          <a:p>
            <a:pPr algn="l">
              <a:lnSpc>
                <a:spcPct val="200000"/>
              </a:lnSpc>
            </a:pPr>
            <a:endParaRPr lang="en-US" altLang="en-US" sz="2400" dirty="0">
              <a:latin typeface="Tahoma" panose="020B0604030504040204" charset="0"/>
              <a:cs typeface="Tahoma" panose="020B060403050404020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164" y="1163596"/>
            <a:ext cx="5537126" cy="388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498069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965917" y="181776"/>
            <a:ext cx="39853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Introduction: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5DBB8EC-D6C2-C1A3-8008-6D58BCFC8DA7}"/>
              </a:ext>
            </a:extLst>
          </p:cNvPr>
          <p:cNvSpPr txBox="1"/>
          <p:nvPr/>
        </p:nvSpPr>
        <p:spPr>
          <a:xfrm>
            <a:off x="320232" y="811743"/>
            <a:ext cx="7038755" cy="4556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/>
              <a:t>Existing System</a:t>
            </a:r>
          </a:p>
          <a:p>
            <a:r>
              <a:rPr lang="en-US" sz="3200" dirty="0"/>
              <a:t>Current Methods: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Facebook posts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WhatsApp groups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Phone calls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Word of mouth </a:t>
            </a:r>
            <a:endParaRPr lang="en-US" sz="3200" dirty="0" smtClean="0"/>
          </a:p>
          <a:p>
            <a:pPr>
              <a:lnSpc>
                <a:spcPct val="150000"/>
              </a:lnSpc>
            </a:pPr>
            <a:r>
              <a:rPr lang="en-US" sz="3200" dirty="0" smtClean="0"/>
              <a:t>Challenges</a:t>
            </a:r>
            <a:r>
              <a:rPr lang="en-US" sz="3200" dirty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Difficult to track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No structured matching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Time-consuming</a:t>
            </a:r>
          </a:p>
          <a:p>
            <a:pPr algn="l">
              <a:lnSpc>
                <a:spcPct val="200000"/>
              </a:lnSpc>
            </a:pPr>
            <a:endParaRPr lang="en-US" altLang="en-US" sz="2400" dirty="0">
              <a:latin typeface="Tahoma" panose="020B0604030504040204" charset="0"/>
              <a:cs typeface="Tahoma" panose="020B060403050404020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423" y="969607"/>
            <a:ext cx="6850812" cy="486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107390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965917" y="181776"/>
            <a:ext cx="20649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SDLC: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15DBB8EC-D6C2-C1A3-8008-6D58BCFC8DA7}"/>
              </a:ext>
            </a:extLst>
          </p:cNvPr>
          <p:cNvSpPr txBox="1"/>
          <p:nvPr/>
        </p:nvSpPr>
        <p:spPr>
          <a:xfrm>
            <a:off x="380220" y="1406159"/>
            <a:ext cx="10795635" cy="45567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3200" b="1" dirty="0"/>
              <a:t>Agile </a:t>
            </a:r>
            <a:r>
              <a:rPr lang="en-US" sz="3200" b="1" dirty="0" smtClean="0"/>
              <a:t>SDLC</a:t>
            </a:r>
            <a:endParaRPr lang="en-US" sz="3200" dirty="0"/>
          </a:p>
          <a:p>
            <a:r>
              <a:rPr lang="en-US" sz="3200" dirty="0"/>
              <a:t>Stages: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Requirements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Design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Development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Testing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Deployment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Maintenance</a:t>
            </a:r>
          </a:p>
          <a:p>
            <a:pPr algn="l">
              <a:lnSpc>
                <a:spcPct val="200000"/>
              </a:lnSpc>
            </a:pPr>
            <a:endParaRPr lang="en-US" altLang="en-US" sz="2400" dirty="0">
              <a:latin typeface="Tahoma" panose="020B0604030504040204" charset="0"/>
              <a:cs typeface="Tahoma" panose="020B060403050404020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pic>
        <p:nvPicPr>
          <p:cNvPr id="2054" name="Picture 6" descr="Traditional vs Agile SDLC: How To Skyrocket Your Project With Agile Mode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9967" y="1965493"/>
            <a:ext cx="6083723" cy="323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8178466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1040286" y="180830"/>
            <a:ext cx="55157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System Architecture</a:t>
            </a:r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20232" y="1095180"/>
            <a:ext cx="6516304" cy="3330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600" b="1" dirty="0"/>
              <a:t>Three-Tier </a:t>
            </a:r>
            <a:r>
              <a:rPr lang="en-US" altLang="en-US" sz="3600" b="1" dirty="0" smtClean="0"/>
              <a:t>Architecture</a:t>
            </a:r>
          </a:p>
          <a:p>
            <a:pPr marL="1028700" lvl="1" indent="-5715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/>
              <a:t>Presentation </a:t>
            </a:r>
            <a:r>
              <a:rPr lang="en-US" altLang="en-US" sz="3600" dirty="0" smtClean="0"/>
              <a:t>Layer</a:t>
            </a:r>
          </a:p>
          <a:p>
            <a:pPr marL="1028700" lvl="1" indent="-5715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 smtClean="0"/>
              <a:t>Business </a:t>
            </a:r>
            <a:r>
              <a:rPr lang="en-US" altLang="en-US" sz="3600" dirty="0"/>
              <a:t>Logic </a:t>
            </a:r>
            <a:r>
              <a:rPr lang="en-US" altLang="en-US" sz="3600" dirty="0" smtClean="0"/>
              <a:t>Layer</a:t>
            </a:r>
            <a:endParaRPr lang="en-US" altLang="en-US" sz="3600" dirty="0"/>
          </a:p>
          <a:p>
            <a:pPr marL="1028700" lvl="1" indent="-5715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3600" dirty="0" smtClean="0"/>
              <a:t>Database </a:t>
            </a:r>
            <a:r>
              <a:rPr lang="en-US" altLang="en-US" sz="3600" dirty="0"/>
              <a:t>Layer</a:t>
            </a:r>
          </a:p>
        </p:txBody>
      </p:sp>
      <p:pic>
        <p:nvPicPr>
          <p:cNvPr id="5123" name="Picture 3" descr="Client-Server Architecture Explain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483" y="1368169"/>
            <a:ext cx="5677334" cy="440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990353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1040286" y="180830"/>
            <a:ext cx="36464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UI Prototype</a:t>
            </a:r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04632" y="1548497"/>
            <a:ext cx="6516304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sz="2400" dirty="0" smtClean="0"/>
              <a:t>Welcome </a:t>
            </a:r>
            <a:r>
              <a:rPr lang="en-US" sz="2400" dirty="0"/>
              <a:t>Screen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Login Screen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Registration Screen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Tenant Dashboard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Matching Properties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Property Details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Create Requirement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Agent Dashboard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Create Property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sz="2400" dirty="0"/>
              <a:t>Profile Screen</a:t>
            </a:r>
            <a:endParaRPr lang="en-US" sz="3200" dirty="0"/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220" y="1065830"/>
            <a:ext cx="8722913" cy="518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0368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1040286" y="180830"/>
            <a:ext cx="52978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GitHub </a:t>
            </a:r>
            <a:r>
              <a:rPr lang="en-US" sz="4800" b="1" dirty="0" smtClean="0"/>
              <a:t>Integration</a:t>
            </a:r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69998" y="1274177"/>
            <a:ext cx="6516304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3200" b="1" dirty="0" smtClean="0"/>
              <a:t>Benefits</a:t>
            </a:r>
            <a:r>
              <a:rPr lang="en-US" sz="3200" b="1" dirty="0"/>
              <a:t>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Version Control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Collaboration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Backup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Documentation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25675777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1040286" y="180830"/>
            <a:ext cx="58955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Project Management </a:t>
            </a:r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842002"/>
              </p:ext>
            </p:extLst>
          </p:nvPr>
        </p:nvGraphicFramePr>
        <p:xfrm>
          <a:off x="819765" y="1139052"/>
          <a:ext cx="10546690" cy="45225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5166"/>
                <a:gridCol w="5071032"/>
                <a:gridCol w="2253906"/>
                <a:gridCol w="2356586"/>
              </a:tblGrid>
              <a:tr h="5002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200" dirty="0">
                          <a:effectLst/>
                        </a:rPr>
                        <a:t>ID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200" dirty="0">
                          <a:effectLst/>
                        </a:rPr>
                        <a:t>Activity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</a:rPr>
                        <a:t>Duration (Days)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200">
                          <a:effectLst/>
                        </a:rPr>
                        <a:t>Dependency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5002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A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Requirements Analysis &amp; MVP2 Review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 Days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None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5002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B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Research &amp; SDG Alignment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2 Days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Requirements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52086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System Design (Use Cases, UML, Database)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4 Days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Research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5002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Architecture &amp; Prototype Design (Figma)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 Days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System Design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5002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MVP3 Frontend Development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5 Days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Prototype Design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5002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F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MVP3 Backend &amp; Database Development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5 Days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Frontend Development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5002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G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Testing &amp; Validation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 Days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Backend Development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  <a:tr h="50021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H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Documentation, GitHub &amp; Final Submission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 Days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Testing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419834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1040286" y="180830"/>
            <a:ext cx="58955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Project Management </a:t>
            </a:r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pic>
        <p:nvPicPr>
          <p:cNvPr id="9" name="Picture 8"/>
          <p:cNvPicPr/>
          <p:nvPr/>
        </p:nvPicPr>
        <p:blipFill rotWithShape="1">
          <a:blip r:embed="rId3"/>
          <a:srcRect t="16313" b="3196"/>
          <a:stretch/>
        </p:blipFill>
        <p:spPr bwMode="auto">
          <a:xfrm>
            <a:off x="913295" y="1760772"/>
            <a:ext cx="10262560" cy="39837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20220" y="1237552"/>
            <a:ext cx="30678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Network Diagram</a:t>
            </a:r>
            <a:endParaRPr lang="en-US" sz="2800" b="1" dirty="0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63145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41766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1040286" y="180830"/>
            <a:ext cx="58955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Project Management </a:t>
            </a:r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20220" y="1237552"/>
            <a:ext cx="30678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smtClean="0"/>
              <a:t>Gantt Chart</a:t>
            </a:r>
          </a:p>
          <a:p>
            <a:endParaRPr lang="en-US" sz="2800" b="1" dirty="0"/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63145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10" name="Picture 9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286" y="1773841"/>
            <a:ext cx="9930154" cy="40713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76610731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1040286" y="180830"/>
            <a:ext cx="47355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License Selection</a:t>
            </a:r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20232" y="1103407"/>
            <a:ext cx="7994035" cy="5196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MIT </a:t>
            </a:r>
            <a:r>
              <a:rPr lang="en-US" sz="2800" b="1" dirty="0" smtClean="0"/>
              <a:t>License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Why MIT?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✔ Open Source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✔ Free to Use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✔ Easy to Understand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✔ Encourages Collaboration</a:t>
            </a:r>
          </a:p>
          <a:p>
            <a:pPr lvl="1">
              <a:lnSpc>
                <a:spcPct val="150000"/>
              </a:lnSpc>
            </a:pPr>
            <a:r>
              <a:rPr lang="en-US" sz="2800" dirty="0"/>
              <a:t>✔ Supports Innovation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5922543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1040286" y="180830"/>
            <a:ext cx="429226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SDG </a:t>
            </a:r>
            <a:r>
              <a:rPr lang="en-US" sz="4800" b="1" dirty="0" smtClean="0"/>
              <a:t>Alignment</a:t>
            </a:r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53319" y="1088171"/>
            <a:ext cx="7994035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800" b="1" dirty="0"/>
              <a:t>SDG 11: Sustainable Cities and </a:t>
            </a:r>
            <a:r>
              <a:rPr lang="en-US" sz="2800" b="1" dirty="0" smtClean="0"/>
              <a:t>Communities</a:t>
            </a:r>
            <a:endParaRPr lang="en-US" sz="2800" b="1" dirty="0"/>
          </a:p>
          <a:p>
            <a:pPr>
              <a:lnSpc>
                <a:spcPct val="150000"/>
              </a:lnSpc>
            </a:pPr>
            <a:r>
              <a:rPr lang="en-US" sz="2800" dirty="0" err="1"/>
              <a:t>RentSure</a:t>
            </a:r>
            <a:r>
              <a:rPr lang="en-US" sz="2800" dirty="0"/>
              <a:t> contributes by: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Improving housing accessibility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Reducing search time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Improving information transparency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Supporting digital housing services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8844304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F657D86E-FBD5-A994-D136-E59BC5CAF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C552AD4-6870-72E6-C3BF-4C1D105B990F}"/>
              </a:ext>
            </a:extLst>
          </p:cNvPr>
          <p:cNvSpPr txBox="1"/>
          <p:nvPr/>
        </p:nvSpPr>
        <p:spPr>
          <a:xfrm>
            <a:off x="1040286" y="180830"/>
            <a:ext cx="31710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/>
              <a:t>Conclusion</a:t>
            </a:r>
            <a:r>
              <a:rPr lang="en-US" altLang="en-US" sz="4800" b="1" dirty="0" smtClean="0">
                <a:latin typeface="Rubik" pitchFamily="2" charset="-79"/>
                <a:cs typeface="Rubik" pitchFamily="2" charset="-79"/>
              </a:rPr>
              <a:t>:</a:t>
            </a:r>
            <a:endParaRPr lang="en-US" altLang="en-US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="" xmlns:a16="http://schemas.microsoft.com/office/drawing/2014/main" id="{66D96888-9ED7-B9D9-42A0-45D23C9E518A}"/>
              </a:ext>
            </a:extLst>
          </p:cNvPr>
          <p:cNvSpPr/>
          <p:nvPr/>
        </p:nvSpPr>
        <p:spPr>
          <a:xfrm>
            <a:off x="320232" y="346563"/>
            <a:ext cx="499533" cy="499533"/>
          </a:xfrm>
          <a:prstGeom prst="ellipse">
            <a:avLst/>
          </a:prstGeom>
          <a:noFill/>
          <a:ln w="825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2" name="Isosceles Triangle 11">
            <a:extLst>
              <a:ext uri="{FF2B5EF4-FFF2-40B4-BE49-F238E27FC236}">
                <a16:creationId xmlns="" xmlns:a16="http://schemas.microsoft.com/office/drawing/2014/main" id="{12143DF2-29D5-D1DF-E583-01A6F645A4FD}"/>
              </a:ext>
            </a:extLst>
          </p:cNvPr>
          <p:cNvSpPr/>
          <p:nvPr/>
        </p:nvSpPr>
        <p:spPr>
          <a:xfrm rot="20053535">
            <a:off x="11254114" y="4958740"/>
            <a:ext cx="578353" cy="492276"/>
          </a:xfrm>
          <a:prstGeom prst="triangl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="" xmlns:a16="http://schemas.microsoft.com/office/drawing/2014/main" id="{94720F98-A0F1-F149-2C4D-77AF04132865}"/>
              </a:ext>
            </a:extLst>
          </p:cNvPr>
          <p:cNvSpPr/>
          <p:nvPr/>
        </p:nvSpPr>
        <p:spPr>
          <a:xfrm rot="1447343">
            <a:off x="-1115020" y="5730636"/>
            <a:ext cx="2454965" cy="240868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E5A0E83-5B53-4343-E2C8-FD3BCE58FEF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282133" y="5845227"/>
            <a:ext cx="1787444" cy="99091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14329" y="1181908"/>
            <a:ext cx="7994035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/>
              <a:t>Future Work</a:t>
            </a:r>
            <a:endParaRPr lang="en-US" sz="28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Real-time messaging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Mobile application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AI recommendations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Push notifications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50571058"/>
      </p:ext>
    </p:extLst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 rot="1447343">
            <a:off x="8461847" y="4393797"/>
            <a:ext cx="6977322" cy="6845784"/>
          </a:xfrm>
          <a:prstGeom prst="ellipse">
            <a:avLst/>
          </a:prstGeom>
          <a:solidFill>
            <a:srgbClr val="22BA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3" name="Oval 2"/>
          <p:cNvSpPr/>
          <p:nvPr/>
        </p:nvSpPr>
        <p:spPr>
          <a:xfrm rot="1447343">
            <a:off x="-646624" y="4524705"/>
            <a:ext cx="3563956" cy="3496768"/>
          </a:xfrm>
          <a:prstGeom prst="ellipse">
            <a:avLst/>
          </a:prstGeom>
          <a:solidFill>
            <a:srgbClr val="098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5143" y="2375612"/>
            <a:ext cx="11930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latin typeface="Rubik" pitchFamily="2" charset="-79"/>
                <a:cs typeface="Rubik" pitchFamily="2" charset="-79"/>
              </a:rPr>
              <a:t>Thanks For Your Attention</a:t>
            </a:r>
            <a:endParaRPr lang="en-ID" sz="4800" b="1" dirty="0">
              <a:latin typeface="Rubik" pitchFamily="2" charset="-79"/>
              <a:cs typeface="Rubik" pitchFamily="2" charset="-79"/>
            </a:endParaRPr>
          </a:p>
        </p:txBody>
      </p:sp>
      <p:sp>
        <p:nvSpPr>
          <p:cNvPr id="14" name="Oval 13"/>
          <p:cNvSpPr/>
          <p:nvPr/>
        </p:nvSpPr>
        <p:spPr>
          <a:xfrm rot="1447343">
            <a:off x="1834961" y="-3860488"/>
            <a:ext cx="5050970" cy="495574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5" name="Oval 14"/>
          <p:cNvSpPr/>
          <p:nvPr/>
        </p:nvSpPr>
        <p:spPr>
          <a:xfrm rot="1447343">
            <a:off x="10242688" y="-1262637"/>
            <a:ext cx="2573794" cy="2525273"/>
          </a:xfrm>
          <a:prstGeom prst="ellipse">
            <a:avLst/>
          </a:prstGeom>
          <a:solidFill>
            <a:srgbClr val="E406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860077" y="391139"/>
            <a:ext cx="850607" cy="850607"/>
          </a:xfrm>
          <a:prstGeom prst="ellipse">
            <a:avLst/>
          </a:prstGeom>
          <a:noFill/>
          <a:ln w="82550">
            <a:solidFill>
              <a:srgbClr val="F5C41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7" name="Isosceles Triangle 16"/>
          <p:cNvSpPr/>
          <p:nvPr/>
        </p:nvSpPr>
        <p:spPr>
          <a:xfrm rot="8874069">
            <a:off x="4262943" y="5430488"/>
            <a:ext cx="797174" cy="678530"/>
          </a:xfrm>
          <a:prstGeom prst="triangle">
            <a:avLst/>
          </a:prstGeom>
          <a:noFill/>
          <a:ln w="82550">
            <a:solidFill>
              <a:srgbClr val="E4063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18" name="Freeform: Shape 17"/>
          <p:cNvSpPr/>
          <p:nvPr/>
        </p:nvSpPr>
        <p:spPr>
          <a:xfrm rot="9227944">
            <a:off x="693371" y="1168360"/>
            <a:ext cx="698911" cy="328222"/>
          </a:xfrm>
          <a:custGeom>
            <a:avLst/>
            <a:gdLst>
              <a:gd name="connsiteX0" fmla="*/ 0 w 499534"/>
              <a:gd name="connsiteY0" fmla="*/ 0 h 249768"/>
              <a:gd name="connsiteX1" fmla="*/ 499534 w 499534"/>
              <a:gd name="connsiteY1" fmla="*/ 0 h 249768"/>
              <a:gd name="connsiteX2" fmla="*/ 499534 w 499534"/>
              <a:gd name="connsiteY2" fmla="*/ 1 h 249768"/>
              <a:gd name="connsiteX3" fmla="*/ 249767 w 499534"/>
              <a:gd name="connsiteY3" fmla="*/ 249768 h 249768"/>
              <a:gd name="connsiteX4" fmla="*/ 0 w 499534"/>
              <a:gd name="connsiteY4" fmla="*/ 1 h 249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9534" h="249768">
                <a:moveTo>
                  <a:pt x="0" y="0"/>
                </a:moveTo>
                <a:lnTo>
                  <a:pt x="499534" y="0"/>
                </a:lnTo>
                <a:lnTo>
                  <a:pt x="499534" y="1"/>
                </a:lnTo>
                <a:cubicBezTo>
                  <a:pt x="499534" y="137944"/>
                  <a:pt x="387710" y="249768"/>
                  <a:pt x="249767" y="249768"/>
                </a:cubicBezTo>
                <a:cubicBezTo>
                  <a:pt x="111824" y="249768"/>
                  <a:pt x="0" y="137944"/>
                  <a:pt x="0" y="1"/>
                </a:cubicBezTo>
                <a:close/>
              </a:path>
            </a:pathLst>
          </a:custGeom>
          <a:noFill/>
          <a:ln w="82550">
            <a:solidFill>
              <a:srgbClr val="22BA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>
              <a:latin typeface="Nunito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38E1C73-DD39-3DB1-83A0-51FFB900C36F}"/>
              </a:ext>
            </a:extLst>
          </p:cNvPr>
          <p:cNvSpPr txBox="1"/>
          <p:nvPr/>
        </p:nvSpPr>
        <p:spPr>
          <a:xfrm>
            <a:off x="5296354" y="2985070"/>
            <a:ext cx="159929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800" b="1" dirty="0">
                <a:latin typeface="Rubik" pitchFamily="2" charset="-79"/>
                <a:cs typeface="Rubik" pitchFamily="2" charset="-79"/>
                <a:sym typeface="Wingdings" panose="05000000000000000000" pitchFamily="2" charset="2"/>
              </a:rPr>
              <a:t></a:t>
            </a:r>
            <a:endParaRPr lang="en-ID" sz="4800" b="1" dirty="0">
              <a:latin typeface="Rubik" pitchFamily="2" charset="-79"/>
              <a:cs typeface="Rubik" pitchFamily="2" charset="-79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2BA7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</TotalTime>
  <Words>314</Words>
  <Application>Microsoft Office PowerPoint</Application>
  <PresentationFormat>Widescreen</PresentationFormat>
  <Paragraphs>122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Nunito</vt:lpstr>
      <vt:lpstr>Rubik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rifa nurmalia</dc:creator>
  <cp:lastModifiedBy>o</cp:lastModifiedBy>
  <cp:revision>101</cp:revision>
  <dcterms:created xsi:type="dcterms:W3CDTF">2024-03-27T01:11:00Z</dcterms:created>
  <dcterms:modified xsi:type="dcterms:W3CDTF">2026-06-21T07:13:37Z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95F676B8E42C4E5B922DF4F406BF1BD1_13</vt:lpwstr>
  </property>
  <property fmtid="{D5CDD505-2E9C-101B-9397-08002B2CF9AE}" pid="3" name="KSOProductBuildVer">
    <vt:lpwstr>1033-12.2.0.23196</vt:lpwstr>
  </property>
</Properties>
</file>